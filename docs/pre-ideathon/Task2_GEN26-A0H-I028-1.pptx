
<file path=[Content_Types].xml><?xml version="1.0" encoding="utf-8"?>
<Types xmlns="http://schemas.openxmlformats.org/package/2006/content-types">
  <Default Extension="1" ContentType="image/unknown"/>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0" d="100"/>
          <a:sy n="50" d="100"/>
        </p:scale>
        <p:origin x="1260" y="3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notesMaster" Target="notesMasters/notesMaster1.xml" /><Relationship Id="rId5" Type="http://schemas.openxmlformats.org/officeDocument/2006/relationships/slide" Target="slides/slide4.xml" /><Relationship Id="rId15" Type="http://schemas.openxmlformats.org/officeDocument/2006/relationships/tableStyles" Target="tableStyle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8640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txBody>
          <a:bodyPr/>
          <a:lstStyle/>
          <a:p>
            <a:endParaRPr lang="en-IN"/>
          </a:p>
        </p:txBody>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4"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2.xml" /><Relationship Id="rId1" Type="http://schemas.openxmlformats.org/officeDocument/2006/relationships/slideLayout" Target="../slideLayouts/slideLayout3.xml" /><Relationship Id="rId5" Type="http://schemas.openxmlformats.org/officeDocument/2006/relationships/image" Target="../media/image4.jpeg" /><Relationship Id="rId4" Type="http://schemas.openxmlformats.org/officeDocument/2006/relationships/image" Target="../media/image3.png" /></Relationships>
</file>

<file path=ppt/slides/_rels/slide3.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3.xml" /><Relationship Id="rId1" Type="http://schemas.openxmlformats.org/officeDocument/2006/relationships/slideLayout" Target="../slideLayouts/slideLayout3.xml" /><Relationship Id="rId6" Type="http://schemas.openxmlformats.org/officeDocument/2006/relationships/hyperlink" Target="https://www.rawpixel.com/image/573321/old-man-walking-with-cane" TargetMode="External" /><Relationship Id="rId5" Type="http://schemas.openxmlformats.org/officeDocument/2006/relationships/image" Target="../media/image5.1" /><Relationship Id="rId4" Type="http://schemas.openxmlformats.org/officeDocument/2006/relationships/image" Target="../media/image3.png" /></Relationships>
</file>

<file path=ppt/slides/_rels/slide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4.xml" /><Relationship Id="rId1" Type="http://schemas.openxmlformats.org/officeDocument/2006/relationships/slideLayout" Target="../slideLayouts/slideLayout3.xml" /><Relationship Id="rId4" Type="http://schemas.openxmlformats.org/officeDocument/2006/relationships/image" Target="../media/image3.png" /></Relationships>
</file>

<file path=ppt/slides/_rels/slide5.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5.xml" /><Relationship Id="rId1" Type="http://schemas.openxmlformats.org/officeDocument/2006/relationships/slideLayout" Target="../slideLayouts/slideLayout3.xml" /><Relationship Id="rId5" Type="http://schemas.openxmlformats.org/officeDocument/2006/relationships/image" Target="../media/image6.jpeg" /><Relationship Id="rId4" Type="http://schemas.openxmlformats.org/officeDocument/2006/relationships/image" Target="../media/image3.png" /></Relationships>
</file>

<file path=ppt/slides/_rels/slide6.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6.xml" /><Relationship Id="rId1" Type="http://schemas.openxmlformats.org/officeDocument/2006/relationships/slideLayout" Target="../slideLayouts/slideLayout3.xml" /><Relationship Id="rId5" Type="http://schemas.openxmlformats.org/officeDocument/2006/relationships/image" Target="../media/image7.png" /><Relationship Id="rId4" Type="http://schemas.openxmlformats.org/officeDocument/2006/relationships/image" Target="../media/image3.png" /></Relationships>
</file>

<file path=ppt/slides/_rels/slide7.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7.xml" /><Relationship Id="rId1" Type="http://schemas.openxmlformats.org/officeDocument/2006/relationships/slideLayout" Target="../slideLayouts/slideLayout3.xml" /><Relationship Id="rId5" Type="http://schemas.openxmlformats.org/officeDocument/2006/relationships/image" Target="../media/image8.jpeg" /><Relationship Id="rId4" Type="http://schemas.openxmlformats.org/officeDocument/2006/relationships/image" Target="../media/image3.png" /></Relationships>
</file>

<file path=ppt/slides/_rels/slide8.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8.xml" /><Relationship Id="rId1" Type="http://schemas.openxmlformats.org/officeDocument/2006/relationships/slideLayout" Target="../slideLayouts/slideLayout3.xml" /><Relationship Id="rId5" Type="http://schemas.openxmlformats.org/officeDocument/2006/relationships/image" Target="../media/image9.jpeg" /><Relationship Id="rId4" Type="http://schemas.openxmlformats.org/officeDocument/2006/relationships/image" Target="../media/image3.png" /></Relationships>
</file>

<file path=ppt/slides/_rels/slide9.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9.xml" /><Relationship Id="rId1" Type="http://schemas.openxmlformats.org/officeDocument/2006/relationships/slideLayout" Target="../slideLayouts/slideLayout3.xml" /><Relationship Id="rId4" Type="http://schemas.openxmlformats.org/officeDocument/2006/relationships/image" Target="../media/image3.png"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txBody>
          <a:bodyPr/>
          <a:lstStyle/>
          <a:p>
            <a:endParaRPr lang="en-IN"/>
          </a:p>
        </p:txBody>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txBody>
          <a:bodyPr/>
          <a:lstStyle/>
          <a:p>
            <a:endParaRPr lang="en-IN"/>
          </a:p>
        </p:txBody>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txBody>
          <a:bodyPr/>
          <a:lstStyle/>
          <a:p>
            <a:endParaRPr lang="en-IN"/>
          </a:p>
        </p:txBody>
      </p:sp>
      <p:sp>
        <p:nvSpPr>
          <p:cNvPr id="5" name="Cover Hexagon"/>
          <p:cNvSpPr/>
          <p:nvPr/>
        </p:nvSpPr>
        <p:spPr>
          <a:xfrm rot="5400000">
            <a:off x="6613359" y="3177540"/>
            <a:ext cx="580722" cy="502920"/>
          </a:xfrm>
          <a:prstGeom prst="hexagon">
            <a:avLst/>
          </a:prstGeom>
          <a:solidFill>
            <a:schemeClr val="accent3"/>
          </a:solidFill>
          <a:ln/>
        </p:spPr>
        <p:txBody>
          <a:bodyPr/>
          <a:lstStyle/>
          <a:p>
            <a:endParaRPr lang="en-IN"/>
          </a:p>
        </p:txBody>
      </p:sp>
      <p:sp>
        <p:nvSpPr>
          <p:cNvPr id="6" name="Cover Hexagon"/>
          <p:cNvSpPr/>
          <p:nvPr/>
        </p:nvSpPr>
        <p:spPr>
          <a:xfrm rot="5400000">
            <a:off x="10849583" y="1728216"/>
            <a:ext cx="337874" cy="292608"/>
          </a:xfrm>
          <a:prstGeom prst="hexagon">
            <a:avLst/>
          </a:prstGeom>
          <a:solidFill>
            <a:schemeClr val="accent3">
              <a:alpha val="70000"/>
            </a:schemeClr>
          </a:solidFill>
          <a:ln/>
        </p:spPr>
        <p:txBody>
          <a:bodyPr/>
          <a:lstStyle/>
          <a:p>
            <a:endParaRPr lang="en-IN"/>
          </a:p>
        </p:txBody>
      </p:sp>
      <p:sp>
        <p:nvSpPr>
          <p:cNvPr id="7" name="Cover Hexagon"/>
          <p:cNvSpPr/>
          <p:nvPr/>
        </p:nvSpPr>
        <p:spPr>
          <a:xfrm rot="5400000">
            <a:off x="6868728" y="1440180"/>
            <a:ext cx="4276224" cy="3703320"/>
          </a:xfrm>
          <a:prstGeom prst="hexagon">
            <a:avLst/>
          </a:prstGeom>
          <a:solidFill>
            <a:schemeClr val="accent1">
              <a:alpha val="45000"/>
            </a:schemeClr>
          </a:solidFill>
          <a:ln/>
        </p:spPr>
        <p:txBody>
          <a:bodyPr/>
          <a:lstStyle/>
          <a:p>
            <a:endParaRPr lang="en-IN"/>
          </a:p>
        </p:txBody>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txBody>
          <a:bodyPr/>
          <a:lstStyle/>
          <a:p>
            <a:endParaRPr lang="en-IN"/>
          </a:p>
        </p:txBody>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txBody>
          <a:bodyPr/>
          <a:lstStyle/>
          <a:p>
            <a:endParaRPr lang="en-IN"/>
          </a:p>
        </p:txBody>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5" name="Cover Fields"/>
          <p:cNvSpPr txBox="1"/>
          <p:nvPr/>
        </p:nvSpPr>
        <p:spPr>
          <a:xfrm>
            <a:off x="548640" y="3289434"/>
            <a:ext cx="7109460" cy="2560320"/>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 The Notre Dame</a:t>
            </a:r>
            <a:endParaRPr lang="en-US" sz="1800" dirty="0"/>
          </a:p>
          <a:p>
            <a:pPr marL="279400" indent="-279400">
              <a:spcAft>
                <a:spcPts val="1400"/>
              </a:spcAft>
              <a:buClr>
                <a:schemeClr val="accent3"/>
              </a:buClr>
              <a:buSzPct val="100000"/>
              <a:buChar char="•"/>
            </a:pPr>
            <a:r>
              <a:rPr lang="en-US" sz="1800" dirty="0">
                <a:solidFill>
                  <a:schemeClr val="bg1"/>
                </a:solidFill>
              </a:rPr>
              <a:t>Team Members – URMIKA PRASANTH – CB.EN.U4MEE26244</a:t>
            </a:r>
          </a:p>
          <a:p>
            <a:pPr>
              <a:spcAft>
                <a:spcPts val="1400"/>
              </a:spcAft>
              <a:buClr>
                <a:schemeClr val="accent3"/>
              </a:buClr>
              <a:buSzPct val="100000"/>
            </a:pPr>
            <a:r>
              <a:rPr lang="en-US" sz="1800" dirty="0">
                <a:solidFill>
                  <a:schemeClr val="bg1"/>
                </a:solidFill>
              </a:rPr>
              <a:t>                                     </a:t>
            </a:r>
            <a:r>
              <a:rPr lang="en-US" dirty="0">
                <a:solidFill>
                  <a:schemeClr val="bg1"/>
                </a:solidFill>
              </a:rPr>
              <a:t>T PRANAV – CB.EN.U4MEE26242</a:t>
            </a:r>
          </a:p>
          <a:p>
            <a:pPr>
              <a:spcAft>
                <a:spcPts val="1400"/>
              </a:spcAft>
              <a:buClr>
                <a:schemeClr val="accent3"/>
              </a:buClr>
              <a:buSzPct val="100000"/>
            </a:pPr>
            <a:r>
              <a:rPr lang="en-US" dirty="0">
                <a:solidFill>
                  <a:schemeClr val="bg1"/>
                </a:solidFill>
              </a:rPr>
              <a:t>                                     MANTRA ASTHANA – CB.EN.U4MEE26221</a:t>
            </a:r>
          </a:p>
          <a:p>
            <a:pPr>
              <a:spcAft>
                <a:spcPts val="1400"/>
              </a:spcAft>
              <a:buClr>
                <a:schemeClr val="accent3"/>
              </a:buClr>
              <a:buSzPct val="100000"/>
            </a:pPr>
            <a:r>
              <a:rPr lang="en-US" dirty="0">
                <a:solidFill>
                  <a:schemeClr val="bg1"/>
                </a:solidFill>
              </a:rPr>
              <a:t>                                     BANDI VASMATH SAI REDDY – CB.EN.U4MEE26206</a:t>
            </a:r>
            <a:endParaRPr lang="en-US" sz="1800" dirty="0"/>
          </a:p>
          <a:p>
            <a:pPr marL="279400" indent="-279400">
              <a:spcAft>
                <a:spcPts val="1400"/>
              </a:spcAft>
              <a:buClr>
                <a:schemeClr val="accent3"/>
              </a:buClr>
              <a:buSzPct val="100000"/>
              <a:buChar char="•"/>
            </a:pPr>
            <a:r>
              <a:rPr lang="en-US" sz="1800" dirty="0">
                <a:solidFill>
                  <a:schemeClr val="bg1"/>
                </a:solidFill>
              </a:rPr>
              <a:t>Selected Domain – Domain 6</a:t>
            </a:r>
            <a:endParaRPr lang="en-US" sz="1800" dirty="0"/>
          </a:p>
          <a:p>
            <a:pPr marL="279400" indent="-279400">
              <a:spcAft>
                <a:spcPts val="1400"/>
              </a:spcAft>
              <a:buClr>
                <a:schemeClr val="accent3"/>
              </a:buClr>
              <a:buSzPct val="100000"/>
              <a:buChar char="•"/>
            </a:pPr>
            <a:r>
              <a:rPr lang="en-US" sz="1800" dirty="0">
                <a:solidFill>
                  <a:schemeClr val="bg1"/>
                </a:solidFill>
              </a:rPr>
              <a:t>Problem Statement – Inavailability of Joint </a:t>
            </a:r>
            <a:r>
              <a:rPr lang="en-US" dirty="0">
                <a:solidFill>
                  <a:schemeClr val="bg1"/>
                </a:solidFill>
              </a:rPr>
              <a:t>C</a:t>
            </a:r>
            <a:r>
              <a:rPr lang="en-US" sz="1800" dirty="0">
                <a:solidFill>
                  <a:schemeClr val="bg1"/>
                </a:solidFill>
              </a:rPr>
              <a:t>are Facilities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IN"/>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IN"/>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THE NOTRE DAME</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IN"/>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Explain the problem in your domain simply, in your own words</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dirty="0"/>
          </a:p>
        </p:txBody>
      </p:sp>
      <p:pic>
        <p:nvPicPr>
          <p:cNvPr id="12" name="Picture 11" descr="Total Joint Replacement Surgery: What You Need to Know">
            <a:extLst>
              <a:ext uri="{FF2B5EF4-FFF2-40B4-BE49-F238E27FC236}">
                <a16:creationId xmlns:a16="http://schemas.microsoft.com/office/drawing/2014/main" id="{9EEC0D5F-DC11-8193-ECFC-6F54E89EA4C7}"/>
              </a:ext>
            </a:extLst>
          </p:cNvPr>
          <p:cNvPicPr>
            <a:picLocks noChangeAspect="1"/>
          </p:cNvPicPr>
          <p:nvPr/>
        </p:nvPicPr>
        <p:blipFill>
          <a:blip r:embed="rId5"/>
          <a:stretch>
            <a:fillRect/>
          </a:stretch>
        </p:blipFill>
        <p:spPr>
          <a:xfrm>
            <a:off x="6844199" y="1797710"/>
            <a:ext cx="4707721" cy="3140050"/>
          </a:xfrm>
          <a:prstGeom prst="rect">
            <a:avLst/>
          </a:prstGeom>
          <a:ln>
            <a:noFill/>
          </a:ln>
          <a:effectLst>
            <a:softEdge rad="635000"/>
          </a:effectLst>
        </p:spPr>
      </p:pic>
      <p:sp>
        <p:nvSpPr>
          <p:cNvPr id="14" name="TextBox 13">
            <a:extLst>
              <a:ext uri="{FF2B5EF4-FFF2-40B4-BE49-F238E27FC236}">
                <a16:creationId xmlns:a16="http://schemas.microsoft.com/office/drawing/2014/main" id="{AD218653-8018-C719-F715-19CD00F69986}"/>
              </a:ext>
            </a:extLst>
          </p:cNvPr>
          <p:cNvSpPr txBox="1"/>
          <p:nvPr/>
        </p:nvSpPr>
        <p:spPr>
          <a:xfrm>
            <a:off x="9198059" y="4814649"/>
            <a:ext cx="2411770" cy="246221"/>
          </a:xfrm>
          <a:prstGeom prst="rect">
            <a:avLst/>
          </a:prstGeom>
          <a:noFill/>
        </p:spPr>
        <p:txBody>
          <a:bodyPr wrap="square" rtlCol="0">
            <a:spAutoFit/>
          </a:bodyPr>
          <a:lstStyle/>
          <a:p>
            <a:r>
              <a:rPr lang="en-US" sz="1000" dirty="0"/>
              <a:t>Credit: https://www.barringtonortho.com/</a:t>
            </a:r>
            <a:endParaRPr lang="en-IN" sz="1000" dirty="0"/>
          </a:p>
        </p:txBody>
      </p:sp>
      <p:sp>
        <p:nvSpPr>
          <p:cNvPr id="18" name="Prompts">
            <a:extLst>
              <a:ext uri="{FF2B5EF4-FFF2-40B4-BE49-F238E27FC236}">
                <a16:creationId xmlns:a16="http://schemas.microsoft.com/office/drawing/2014/main" id="{45B11064-45B0-934D-218A-725D7C7D1439}"/>
              </a:ext>
            </a:extLst>
          </p:cNvPr>
          <p:cNvSpPr txBox="1"/>
          <p:nvPr/>
        </p:nvSpPr>
        <p:spPr>
          <a:xfrm>
            <a:off x="868680" y="2148839"/>
            <a:ext cx="5227320" cy="2788921"/>
          </a:xfrm>
          <a:prstGeom prst="rect">
            <a:avLst/>
          </a:prstGeom>
          <a:noFill/>
          <a:ln/>
        </p:spPr>
        <p:txBody>
          <a:bodyPr wrap="square" lIns="0" tIns="0" rIns="0" bIns="0" rtlCol="0" anchor="t"/>
          <a:lstStyle/>
          <a:p>
            <a:pPr marL="279400" indent="-279400">
              <a:buClr>
                <a:schemeClr val="accent1"/>
              </a:buClr>
              <a:buSzPct val="100000"/>
              <a:buFont typeface="Arial" panose="020B0604020202020204" pitchFamily="34" charset="0"/>
              <a:buChar char="•"/>
            </a:pPr>
            <a:r>
              <a:rPr lang="en-US" dirty="0"/>
              <a:t>Joint transplants are not an available option for a lot of households in India. It is also a risky affair if not met with regular care and aid. </a:t>
            </a:r>
          </a:p>
          <a:p>
            <a:pPr marL="279400" indent="-279400">
              <a:buClr>
                <a:schemeClr val="accent1"/>
              </a:buClr>
              <a:buSzPct val="100000"/>
              <a:buFont typeface="Arial" panose="020B0604020202020204" pitchFamily="34" charset="0"/>
              <a:buChar char="•"/>
            </a:pPr>
            <a:r>
              <a:rPr lang="en-US" dirty="0"/>
              <a:t>The truth of the matter is that these kind of hurdles often stop people in need from getting transplants or procedures done. This is an issue that is highly prevalent. </a:t>
            </a:r>
          </a:p>
          <a:p>
            <a:pPr marL="279400" indent="-279400">
              <a:buClr>
                <a:schemeClr val="accent1"/>
              </a:buClr>
              <a:buSzPct val="100000"/>
              <a:buFont typeface="Arial" panose="020B0604020202020204" pitchFamily="34" charset="0"/>
              <a:buChar char="•"/>
            </a:pPr>
            <a:r>
              <a:rPr lang="en-US" dirty="0"/>
              <a:t>We aim to significantly improve the quality of life of the affected individuals while ensuring they are both cost-effective and easily accessible. </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IN"/>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IN"/>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dirty="0">
                <a:solidFill>
                  <a:schemeClr val="accent1"/>
                </a:solidFill>
              </a:rPr>
              <a:t>THE NOTRE DAME</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IN"/>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868680" y="2148840"/>
            <a:ext cx="5227320" cy="1407160"/>
          </a:xfrm>
          <a:prstGeom prst="rect">
            <a:avLst/>
          </a:prstGeom>
          <a:noFill/>
          <a:ln/>
        </p:spPr>
        <p:txBody>
          <a:bodyPr wrap="square" lIns="0" tIns="0" rIns="0" bIns="0" rtlCol="0" anchor="t"/>
          <a:lstStyle/>
          <a:p>
            <a:pPr marL="279400" indent="-279400">
              <a:buClr>
                <a:schemeClr val="accent1"/>
              </a:buClr>
              <a:buSzPct val="100000"/>
              <a:buFont typeface="Arial" panose="020B0604020202020204" pitchFamily="34" charset="0"/>
              <a:buChar char="•"/>
            </a:pPr>
            <a:r>
              <a:rPr lang="en-IN" dirty="0"/>
              <a:t>Primary users are going to be users of the older demographic. Patients who are permanently injured and are not monetarily fulfilled enough to solve it themselves. Specifically people with mild osteoarthritis.</a:t>
            </a:r>
          </a:p>
          <a:p>
            <a:pPr marL="279400" indent="-279400">
              <a:buClr>
                <a:schemeClr val="accent1"/>
              </a:buClr>
              <a:buSzPct val="100000"/>
              <a:buFont typeface="Arial" panose="020B0604020202020204" pitchFamily="34" charset="0"/>
              <a:buChar char="•"/>
            </a:pPr>
            <a:r>
              <a:rPr lang="en-IN" dirty="0"/>
              <a:t>Secondary stakeholders can be performance athletes who need to support their joints in movement during high stress.</a:t>
            </a:r>
          </a:p>
          <a:p>
            <a:pPr marL="279400" indent="-279400">
              <a:buClr>
                <a:schemeClr val="accent1"/>
              </a:buClr>
              <a:buSzPct val="100000"/>
              <a:buFont typeface="Arial" panose="020B0604020202020204" pitchFamily="34" charset="0"/>
              <a:buChar char="•"/>
            </a:pPr>
            <a:r>
              <a:rPr lang="en-IN" dirty="0"/>
              <a:t>These people benefit if problem is solved.</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dirty="0"/>
          </a:p>
        </p:txBody>
      </p:sp>
      <p:pic>
        <p:nvPicPr>
          <p:cNvPr id="29" name="Picture 28">
            <a:extLst>
              <a:ext uri="{FF2B5EF4-FFF2-40B4-BE49-F238E27FC236}">
                <a16:creationId xmlns:a16="http://schemas.microsoft.com/office/drawing/2014/main" id="{A27C1562-5E0D-26E2-6817-9C63DE68D08F}"/>
              </a:ext>
            </a:extLst>
          </p:cNvPr>
          <p:cNvPicPr>
            <a:picLocks noChangeAspect="1"/>
          </p:cNvPicPr>
          <p:nvPr/>
        </p:nvPicPr>
        <p:blipFill>
          <a:blip r:embed="rId5">
            <a:extLst>
              <a:ext uri="{837473B0-CC2E-450A-ABE3-18F120FF3D39}">
                <a1611:picAttrSrcUrl xmlns:a1611="http://schemas.microsoft.com/office/drawing/2016/11/main" r:id="rId6"/>
              </a:ext>
            </a:extLst>
          </a:blip>
          <a:srcRect l="30122" t="13503" r="17068" b="13283"/>
          <a:stretch>
            <a:fillRect/>
          </a:stretch>
        </p:blipFill>
        <p:spPr>
          <a:xfrm>
            <a:off x="7969718" y="1684421"/>
            <a:ext cx="2117558" cy="2935706"/>
          </a:xfrm>
          <a:prstGeom prst="roundRect">
            <a:avLst>
              <a:gd name="adj" fmla="val 22272"/>
            </a:avLst>
          </a:prstGeom>
          <a:solidFill>
            <a:srgbClr val="FFFFFF">
              <a:shade val="85000"/>
            </a:srgbClr>
          </a:solidFill>
          <a:ln>
            <a:noFill/>
          </a:ln>
          <a:effectLst>
            <a:reflection blurRad="6350" stA="50000" endA="300" endPos="55000" dir="5400000" sy="-100000" algn="bl" rotWithShape="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IN"/>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IN"/>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dirty="0">
                <a:solidFill>
                  <a:schemeClr val="accent1"/>
                </a:solidFill>
              </a:rPr>
              <a:t>THE NOTRE DAME</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IN"/>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868679" y="2148839"/>
            <a:ext cx="7276253" cy="3481493"/>
          </a:xfrm>
          <a:prstGeom prst="rect">
            <a:avLst/>
          </a:prstGeom>
          <a:noFill/>
          <a:ln/>
        </p:spPr>
        <p:txBody>
          <a:bodyPr wrap="square" lIns="0" tIns="0" rIns="0" bIns="0" rtlCol="0" anchor="t"/>
          <a:lstStyle/>
          <a:p>
            <a:pPr marL="285750" indent="-285750">
              <a:buClr>
                <a:schemeClr val="accent1"/>
              </a:buClr>
              <a:buSzPct val="100000"/>
              <a:buFont typeface="Arial" panose="020B0604020202020204" pitchFamily="34" charset="0"/>
              <a:buChar char="•"/>
            </a:pPr>
            <a:r>
              <a:rPr lang="en-IN" sz="1600" dirty="0"/>
              <a:t>The last two decades have witnessed tremendous strides in the evolution of acceptable and successful methods of prosthetic replacement for the arthritic joint. </a:t>
            </a:r>
          </a:p>
          <a:p>
            <a:pPr marL="285750" indent="-285750">
              <a:buClr>
                <a:schemeClr val="accent1"/>
              </a:buClr>
              <a:buSzPct val="100000"/>
              <a:buFont typeface="Arial" panose="020B0604020202020204" pitchFamily="34" charset="0"/>
              <a:buChar char="•"/>
            </a:pPr>
            <a:r>
              <a:rPr lang="en-IN" sz="1600" dirty="0"/>
              <a:t>By and large, these techniques are predictable and durable, though not always to the complete satisfaction of the patient and surgeon. </a:t>
            </a:r>
          </a:p>
          <a:p>
            <a:pPr marL="285750" indent="-285750">
              <a:buClr>
                <a:schemeClr val="accent1"/>
              </a:buClr>
              <a:buSzPct val="100000"/>
              <a:buFont typeface="Arial" panose="020B0604020202020204" pitchFamily="34" charset="0"/>
              <a:buChar char="•"/>
            </a:pPr>
            <a:r>
              <a:rPr lang="en-IN" sz="1600" dirty="0"/>
              <a:t>Despite the recent emphasis on alternative forms of implant fixation, cemented total joint replacements remain the standard by which all others are judged. </a:t>
            </a:r>
          </a:p>
          <a:p>
            <a:pPr marL="285750" indent="-285750">
              <a:buClr>
                <a:schemeClr val="accent1"/>
              </a:buClr>
              <a:buSzPct val="100000"/>
              <a:buFont typeface="Arial" panose="020B0604020202020204" pitchFamily="34" charset="0"/>
              <a:buChar char="•"/>
            </a:pPr>
            <a:r>
              <a:rPr lang="en-IN" sz="1600" dirty="0"/>
              <a:t>The long-term function and durability of these non-cemented components remains to be seen. The future of joint replacement lies in the development of new "composite" materials which can more closely match the structural characteristics of the bone into which they are being implanted. </a:t>
            </a:r>
          </a:p>
          <a:p>
            <a:pPr marL="285750" indent="-285750">
              <a:buClr>
                <a:schemeClr val="accent1"/>
              </a:buClr>
              <a:buSzPct val="100000"/>
              <a:buFont typeface="Arial" panose="020B0604020202020204" pitchFamily="34" charset="0"/>
              <a:buChar char="•"/>
            </a:pPr>
            <a:r>
              <a:rPr lang="en-IN" sz="1600" dirty="0"/>
              <a:t>The current workflow is to either import it or to not do anything about it as is the case in most places, when people prevent to get knee transplants. People with mild disorders who don’t need such procedures often suffer the most due to inaction.</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dirty="0"/>
          </a:p>
        </p:txBody>
      </p:sp>
      <p:sp>
        <p:nvSpPr>
          <p:cNvPr id="14" name="TextBox 13">
            <a:extLst>
              <a:ext uri="{FF2B5EF4-FFF2-40B4-BE49-F238E27FC236}">
                <a16:creationId xmlns:a16="http://schemas.microsoft.com/office/drawing/2014/main" id="{208A2416-9780-D7A4-2C26-AB5EE00E854F}"/>
              </a:ext>
            </a:extLst>
          </p:cNvPr>
          <p:cNvSpPr txBox="1"/>
          <p:nvPr/>
        </p:nvSpPr>
        <p:spPr>
          <a:xfrm>
            <a:off x="6686549" y="5507221"/>
            <a:ext cx="2916766" cy="246221"/>
          </a:xfrm>
          <a:prstGeom prst="rect">
            <a:avLst/>
          </a:prstGeom>
          <a:noFill/>
        </p:spPr>
        <p:txBody>
          <a:bodyPr wrap="square" rtlCol="0">
            <a:spAutoFit/>
          </a:bodyPr>
          <a:lstStyle/>
          <a:p>
            <a:r>
              <a:rPr lang="en-US" sz="1000" dirty="0"/>
              <a:t>Source: https://pubmed.ncbi.nlm.nih.gov/2404900/</a:t>
            </a:r>
            <a:endParaRPr lang="en-IN"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IN"/>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IN"/>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THE NOTRE DAME</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IN"/>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868680" y="2148839"/>
            <a:ext cx="7572676" cy="2673417"/>
          </a:xfrm>
          <a:prstGeom prst="rect">
            <a:avLst/>
          </a:prstGeom>
          <a:noFill/>
          <a:ln/>
        </p:spPr>
        <p:txBody>
          <a:bodyPr wrap="square" lIns="0" tIns="0" rIns="0" bIns="0" rtlCol="0" anchor="t"/>
          <a:lstStyle/>
          <a:p>
            <a:pPr marL="279400" indent="-279400">
              <a:buClr>
                <a:schemeClr val="accent1"/>
              </a:buClr>
              <a:buSzPct val="100000"/>
              <a:buFont typeface="Arial" panose="020B0604020202020204" pitchFamily="34" charset="0"/>
              <a:buChar char="•"/>
            </a:pPr>
            <a:r>
              <a:rPr lang="en-IN" dirty="0"/>
              <a:t>The problems are:</a:t>
            </a:r>
          </a:p>
          <a:p>
            <a:pPr marL="285750" indent="-285750">
              <a:buClr>
                <a:schemeClr val="accent1"/>
              </a:buClr>
              <a:buSzPct val="100000"/>
              <a:buFont typeface="Wingdings" panose="05000000000000000000" pitchFamily="2" charset="2"/>
              <a:buChar char="Ø"/>
            </a:pPr>
            <a:r>
              <a:rPr lang="en-IN" dirty="0">
                <a:sym typeface="Wingdings" panose="05000000000000000000" pitchFamily="2" charset="2"/>
              </a:rPr>
              <a:t>The human biology is extremely dynamic, making something common to all people is extremely difficult. This will require bespoke solution, which may increase the cost of the device.</a:t>
            </a:r>
          </a:p>
          <a:p>
            <a:pPr marL="285750" indent="-285750">
              <a:buClr>
                <a:schemeClr val="accent1"/>
              </a:buClr>
              <a:buSzPct val="100000"/>
              <a:buFont typeface="Wingdings" panose="05000000000000000000" pitchFamily="2" charset="2"/>
              <a:buChar char="Ø"/>
            </a:pPr>
            <a:r>
              <a:rPr lang="en-IN" dirty="0">
                <a:sym typeface="Wingdings" panose="05000000000000000000" pitchFamily="2" charset="2"/>
              </a:rPr>
              <a:t>The device will need to regulate the weights and have a long battery life.</a:t>
            </a:r>
          </a:p>
          <a:p>
            <a:pPr marL="285750" indent="-285750">
              <a:buClr>
                <a:schemeClr val="accent1"/>
              </a:buClr>
              <a:buSzPct val="100000"/>
              <a:buFont typeface="Wingdings" panose="05000000000000000000" pitchFamily="2" charset="2"/>
              <a:buChar char="Ø"/>
            </a:pPr>
            <a:r>
              <a:rPr lang="en-IN" dirty="0">
                <a:sym typeface="Wingdings" panose="05000000000000000000" pitchFamily="2" charset="2"/>
              </a:rPr>
              <a:t>It may not be the most comfortable solution.</a:t>
            </a:r>
          </a:p>
          <a:p>
            <a:pPr marL="279400" indent="-279400">
              <a:buClr>
                <a:schemeClr val="accent1"/>
              </a:buClr>
              <a:buSzPct val="100000"/>
              <a:buFont typeface="Arial" panose="020B0604020202020204" pitchFamily="34" charset="0"/>
              <a:buChar char="•"/>
            </a:pPr>
            <a:r>
              <a:rPr lang="en-IN" dirty="0"/>
              <a:t>The root cause behind most of these is a common problem almost all biomechanical machines face, which is that every body and anatomy is unique and secondly, substituting the human body is next to impossible.</a:t>
            </a:r>
          </a:p>
          <a:p>
            <a:pPr marL="279400" indent="-279400">
              <a:buClr>
                <a:schemeClr val="accent1"/>
              </a:buClr>
              <a:buSzPct val="100000"/>
              <a:buFont typeface="Arial" panose="020B0604020202020204" pitchFamily="34" charset="0"/>
              <a:buChar char="•"/>
            </a:pPr>
            <a:r>
              <a:rPr lang="en-IN" dirty="0"/>
              <a:t>The consequences of leaving these problems unsolved is that this will render the device to be an additional machine rather than an accessory to assist people in their daily usage.</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dirty="0"/>
          </a:p>
        </p:txBody>
      </p:sp>
      <p:pic>
        <p:nvPicPr>
          <p:cNvPr id="12" name="Picture 11" descr="Challenges illustration Vectors - Download Free High-Quality Vectors |  Magnific (formerly Freepik)">
            <a:extLst>
              <a:ext uri="{FF2B5EF4-FFF2-40B4-BE49-F238E27FC236}">
                <a16:creationId xmlns:a16="http://schemas.microsoft.com/office/drawing/2014/main" id="{11BFB4AF-103A-0417-2449-91A53DF37B7C}"/>
              </a:ext>
            </a:extLst>
          </p:cNvPr>
          <p:cNvPicPr>
            <a:picLocks noChangeAspect="1"/>
          </p:cNvPicPr>
          <p:nvPr/>
        </p:nvPicPr>
        <p:blipFill>
          <a:blip r:embed="rId5"/>
          <a:srcRect l="11270" t="9689" r="11508" b="11704"/>
          <a:stretch>
            <a:fillRect/>
          </a:stretch>
        </p:blipFill>
        <p:spPr>
          <a:xfrm>
            <a:off x="8441356" y="1270535"/>
            <a:ext cx="2486837" cy="2531443"/>
          </a:xfrm>
          <a:prstGeom prst="rect">
            <a:avLst/>
          </a:prstGeom>
          <a:effectLst>
            <a:reflection blurRad="6350" stA="50000" endA="295" endPos="92000" dist="101600" dir="5400000" sy="-100000" algn="bl" rotWithShape="0"/>
          </a:effectLst>
        </p:spPr>
      </p:pic>
      <p:sp>
        <p:nvSpPr>
          <p:cNvPr id="14" name="TextBox 13">
            <a:extLst>
              <a:ext uri="{FF2B5EF4-FFF2-40B4-BE49-F238E27FC236}">
                <a16:creationId xmlns:a16="http://schemas.microsoft.com/office/drawing/2014/main" id="{48B1AF10-4DD7-BC30-7733-691F0FF06336}"/>
              </a:ext>
            </a:extLst>
          </p:cNvPr>
          <p:cNvSpPr txBox="1"/>
          <p:nvPr/>
        </p:nvSpPr>
        <p:spPr>
          <a:xfrm>
            <a:off x="10007599" y="3743870"/>
            <a:ext cx="2021841" cy="246221"/>
          </a:xfrm>
          <a:prstGeom prst="rect">
            <a:avLst/>
          </a:prstGeom>
          <a:noFill/>
        </p:spPr>
        <p:txBody>
          <a:bodyPr wrap="square" rtlCol="0">
            <a:spAutoFit/>
          </a:bodyPr>
          <a:lstStyle/>
          <a:p>
            <a:r>
              <a:rPr lang="en-US" sz="1000" dirty="0"/>
              <a:t>Credit:</a:t>
            </a:r>
            <a:r>
              <a:rPr lang="en-IN" sz="1000" dirty="0"/>
              <a:t>https://www.magnific.com/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IN"/>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IN"/>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dirty="0">
                <a:solidFill>
                  <a:schemeClr val="accent1"/>
                </a:solidFill>
              </a:rPr>
              <a:t>THE NOTRE DAME</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IN"/>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868680" y="2148839"/>
            <a:ext cx="6954520" cy="3100493"/>
          </a:xfrm>
          <a:prstGeom prst="rect">
            <a:avLst/>
          </a:prstGeom>
          <a:noFill/>
          <a:ln/>
        </p:spPr>
        <p:txBody>
          <a:bodyPr wrap="square" lIns="0" tIns="0" rIns="0" bIns="0" rtlCol="0" anchor="t"/>
          <a:lstStyle/>
          <a:p>
            <a:pPr marL="279400" indent="-279400">
              <a:buClr>
                <a:schemeClr val="accent1"/>
              </a:buClr>
              <a:buSzPct val="100000"/>
              <a:buFont typeface="Arial" panose="020B0604020202020204" pitchFamily="34" charset="0"/>
              <a:buChar char="•"/>
            </a:pPr>
            <a:r>
              <a:rPr lang="en-IN" dirty="0"/>
              <a:t>Currently, there are systems built by Roam Robotics, Hypershell Halo and Arc’teryx and Skip MO/GO. </a:t>
            </a:r>
          </a:p>
          <a:p>
            <a:pPr marL="285750" indent="-285750">
              <a:buClr>
                <a:schemeClr val="accent1"/>
              </a:buClr>
              <a:buSzPct val="100000"/>
              <a:buFont typeface="Wingdings" panose="05000000000000000000" pitchFamily="2" charset="2"/>
              <a:buChar char="Ø"/>
            </a:pPr>
            <a:r>
              <a:rPr lang="en-IN" dirty="0">
                <a:sym typeface="Wingdings" panose="05000000000000000000" pitchFamily="2" charset="2"/>
              </a:rPr>
              <a:t>Roam robotics – Solves this by fabric integration and using pneumatic return systems</a:t>
            </a:r>
          </a:p>
          <a:p>
            <a:pPr marL="285750" indent="-285750">
              <a:buClr>
                <a:schemeClr val="accent1"/>
              </a:buClr>
              <a:buSzPct val="100000"/>
              <a:buFont typeface="Wingdings" panose="05000000000000000000" pitchFamily="2" charset="2"/>
              <a:buChar char="Ø"/>
            </a:pPr>
            <a:r>
              <a:rPr lang="en-IN" dirty="0">
                <a:sym typeface="Wingdings" panose="05000000000000000000" pitchFamily="2" charset="2"/>
              </a:rPr>
              <a:t>Hypershell halo – Mostly for performance athletes, Solves the problems by making the bulky components into Pants, which ensure comfort.</a:t>
            </a:r>
          </a:p>
          <a:p>
            <a:pPr marL="285750" indent="-285750">
              <a:buClr>
                <a:schemeClr val="accent1"/>
              </a:buClr>
              <a:buSzPct val="100000"/>
              <a:buFont typeface="Wingdings" panose="05000000000000000000" pitchFamily="2" charset="2"/>
              <a:buChar char="Ø"/>
            </a:pPr>
            <a:r>
              <a:rPr lang="en-IN" dirty="0"/>
              <a:t>Skip MO/GO – similar to Hypershell Halo</a:t>
            </a:r>
          </a:p>
          <a:p>
            <a:pPr marL="279400" indent="-279400">
              <a:buClr>
                <a:schemeClr val="accent1"/>
              </a:buClr>
              <a:buSzPct val="100000"/>
              <a:buFont typeface="Arial" panose="020B0604020202020204" pitchFamily="34" charset="0"/>
              <a:buChar char="•"/>
            </a:pPr>
            <a:r>
              <a:rPr lang="en-IN" dirty="0"/>
              <a:t>The limitations of each for the average Indian consumer are as follows.</a:t>
            </a:r>
          </a:p>
          <a:p>
            <a:pPr marL="285750" indent="-285750">
              <a:buClr>
                <a:schemeClr val="accent1"/>
              </a:buClr>
              <a:buSzPct val="100000"/>
              <a:buFont typeface="Wingdings" panose="05000000000000000000" pitchFamily="2" charset="2"/>
              <a:buChar char="Ø"/>
            </a:pPr>
            <a:r>
              <a:rPr lang="en-IN" dirty="0">
                <a:sym typeface="Wingdings" panose="05000000000000000000" pitchFamily="2" charset="2"/>
              </a:rPr>
              <a:t>Roam robotics – Way too expensive for The Indian consumer after import costs to operate and use</a:t>
            </a:r>
          </a:p>
          <a:p>
            <a:pPr marL="285750" indent="-285750">
              <a:buClr>
                <a:schemeClr val="accent1"/>
              </a:buClr>
              <a:buSzPct val="100000"/>
              <a:buFont typeface="Wingdings" panose="05000000000000000000" pitchFamily="2" charset="2"/>
              <a:buChar char="Ø"/>
            </a:pPr>
            <a:r>
              <a:rPr lang="en-IN" dirty="0"/>
              <a:t>Hypershell Halo/ Skip MO/GO – More focused on athletes and hikers than osteoporosis patients</a:t>
            </a:r>
          </a:p>
          <a:p>
            <a:pPr marL="279400" indent="-279400">
              <a:buClr>
                <a:schemeClr val="accent1"/>
              </a:buClr>
              <a:buSzPct val="100000"/>
              <a:buFont typeface="Arial" panose="020B0604020202020204" pitchFamily="34" charset="0"/>
              <a:buChar char="•"/>
            </a:pPr>
            <a:r>
              <a:rPr lang="en-IN" dirty="0"/>
              <a:t>The limitations of each of them is that these are from outside India and they are outsourced. The second problem is that these are more athletically inclined than making it for patients.</a:t>
            </a:r>
          </a:p>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dirty="0"/>
          </a:p>
        </p:txBody>
      </p:sp>
      <p:pic>
        <p:nvPicPr>
          <p:cNvPr id="12" name="Picture 11" descr="Buy Hypershell Halo | Flagship Full-Leg Exoskeleton – Hypershell EU">
            <a:extLst>
              <a:ext uri="{FF2B5EF4-FFF2-40B4-BE49-F238E27FC236}">
                <a16:creationId xmlns:a16="http://schemas.microsoft.com/office/drawing/2014/main" id="{12E9B663-7757-2AF8-F056-3F77A911727E}"/>
              </a:ext>
            </a:extLst>
          </p:cNvPr>
          <p:cNvPicPr>
            <a:picLocks noChangeAspect="1"/>
          </p:cNvPicPr>
          <p:nvPr/>
        </p:nvPicPr>
        <p:blipFill>
          <a:blip r:embed="rId5"/>
          <a:srcRect l="32196" t="11555" r="30991" b="7704"/>
          <a:stretch>
            <a:fillRect/>
          </a:stretch>
        </p:blipFill>
        <p:spPr>
          <a:xfrm>
            <a:off x="8534401" y="1463040"/>
            <a:ext cx="2080090" cy="4562266"/>
          </a:xfrm>
          <a:prstGeom prst="rect">
            <a:avLst/>
          </a:prstGeom>
        </p:spPr>
      </p:pic>
      <p:sp>
        <p:nvSpPr>
          <p:cNvPr id="14" name="TextBox 13">
            <a:extLst>
              <a:ext uri="{FF2B5EF4-FFF2-40B4-BE49-F238E27FC236}">
                <a16:creationId xmlns:a16="http://schemas.microsoft.com/office/drawing/2014/main" id="{45B06D81-7639-EC71-12D9-3CB5A36377A2}"/>
              </a:ext>
            </a:extLst>
          </p:cNvPr>
          <p:cNvSpPr txBox="1"/>
          <p:nvPr/>
        </p:nvSpPr>
        <p:spPr>
          <a:xfrm>
            <a:off x="9574446" y="5966639"/>
            <a:ext cx="1955800" cy="246221"/>
          </a:xfrm>
          <a:prstGeom prst="rect">
            <a:avLst/>
          </a:prstGeom>
          <a:noFill/>
        </p:spPr>
        <p:txBody>
          <a:bodyPr wrap="square">
            <a:spAutoFit/>
          </a:bodyPr>
          <a:lstStyle/>
          <a:p>
            <a:r>
              <a:rPr lang="en-US" sz="1000" dirty="0"/>
              <a:t>Credit:https://eu.hypershell.tech/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IN" dirty="0"/>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IN" dirty="0"/>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dirty="0">
                <a:solidFill>
                  <a:schemeClr val="accent1"/>
                </a:solidFill>
              </a:rPr>
              <a:t>THE NOTRE DAME</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IN" dirty="0"/>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rot="10800000" flipV="1">
            <a:off x="1101851" y="1992162"/>
            <a:ext cx="7503134" cy="4317198"/>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400" dirty="0">
                <a:solidFill>
                  <a:schemeClr val="tx1"/>
                </a:solidFill>
              </a:rPr>
              <a:t>Hardware Requirements</a:t>
            </a:r>
          </a:p>
          <a:p>
            <a:pPr marL="171450" indent="-171450">
              <a:buClr>
                <a:schemeClr val="accent1"/>
              </a:buClr>
              <a:buSzPct val="100000"/>
              <a:buFont typeface="Wingdings" panose="05000000000000000000" pitchFamily="2" charset="2"/>
              <a:buChar char="Ø"/>
            </a:pPr>
            <a:r>
              <a:rPr lang="en-IN" sz="1400" dirty="0">
                <a:sym typeface="Wingdings" panose="05000000000000000000" pitchFamily="2" charset="2"/>
              </a:rPr>
              <a:t>Thigh and shank frame -  Aluminium or nylon (PETG)</a:t>
            </a:r>
          </a:p>
          <a:p>
            <a:pPr marL="171450" indent="-171450">
              <a:buClr>
                <a:schemeClr val="accent1"/>
              </a:buClr>
              <a:buSzPct val="100000"/>
              <a:buFont typeface="Wingdings" panose="05000000000000000000" pitchFamily="2" charset="2"/>
              <a:buChar char="Ø"/>
            </a:pPr>
            <a:r>
              <a:rPr lang="en-IN" sz="1400" dirty="0">
                <a:sym typeface="Wingdings" panose="05000000000000000000" pitchFamily="2" charset="2"/>
              </a:rPr>
              <a:t>Cuffs and straps</a:t>
            </a:r>
          </a:p>
          <a:p>
            <a:pPr marL="171450" indent="-171450">
              <a:buClr>
                <a:schemeClr val="accent1"/>
              </a:buClr>
              <a:buSzPct val="100000"/>
              <a:buFont typeface="Wingdings" panose="05000000000000000000" pitchFamily="2" charset="2"/>
              <a:buChar char="Ø"/>
            </a:pPr>
            <a:r>
              <a:rPr lang="en-IN" sz="1400" dirty="0">
                <a:sym typeface="Wingdings" panose="05000000000000000000" pitchFamily="2" charset="2"/>
              </a:rPr>
              <a:t>Gear reduction</a:t>
            </a:r>
          </a:p>
          <a:p>
            <a:pPr marL="171450" indent="-171450">
              <a:buClr>
                <a:schemeClr val="accent1"/>
              </a:buClr>
              <a:buSzPct val="100000"/>
              <a:buFont typeface="Wingdings" panose="05000000000000000000" pitchFamily="2" charset="2"/>
              <a:buChar char="Ø"/>
            </a:pPr>
            <a:r>
              <a:rPr lang="en-IN" sz="1400" dirty="0">
                <a:sym typeface="Wingdings" panose="05000000000000000000" pitchFamily="2" charset="2"/>
              </a:rPr>
              <a:t>Mounting plates, fasteners and bearings</a:t>
            </a:r>
          </a:p>
          <a:p>
            <a:pPr marL="171450" indent="-171450">
              <a:buClr>
                <a:schemeClr val="accent1"/>
              </a:buClr>
              <a:buSzPct val="100000"/>
              <a:buFont typeface="Wingdings" panose="05000000000000000000" pitchFamily="2" charset="2"/>
              <a:buChar char="Ø"/>
            </a:pPr>
            <a:r>
              <a:rPr lang="en-IN" sz="1400" dirty="0">
                <a:sym typeface="Wingdings" panose="05000000000000000000" pitchFamily="2" charset="2"/>
              </a:rPr>
              <a:t>Bench test rig</a:t>
            </a:r>
          </a:p>
          <a:p>
            <a:pPr marL="171450" indent="-171450">
              <a:buClr>
                <a:schemeClr val="accent1"/>
              </a:buClr>
              <a:buSzPct val="100000"/>
              <a:buFont typeface="Wingdings" panose="05000000000000000000" pitchFamily="2" charset="2"/>
              <a:buChar char="Ø"/>
            </a:pPr>
            <a:r>
              <a:rPr lang="en-IN" sz="1400" dirty="0">
                <a:sym typeface="Wingdings" panose="05000000000000000000" pitchFamily="2" charset="2"/>
              </a:rPr>
              <a:t>Brushless DC motor</a:t>
            </a:r>
          </a:p>
          <a:p>
            <a:pPr marL="171450" indent="-171450">
              <a:buClr>
                <a:schemeClr val="accent1"/>
              </a:buClr>
              <a:buSzPct val="100000"/>
              <a:buFont typeface="Wingdings" panose="05000000000000000000" pitchFamily="2" charset="2"/>
              <a:buChar char="Ø"/>
            </a:pPr>
            <a:r>
              <a:rPr lang="en-IN" sz="1400" dirty="0"/>
              <a:t>Motor driver</a:t>
            </a:r>
          </a:p>
          <a:p>
            <a:pPr marL="171450" indent="-171450">
              <a:buClr>
                <a:schemeClr val="accent1"/>
              </a:buClr>
              <a:buSzPct val="100000"/>
              <a:buFont typeface="Wingdings" panose="05000000000000000000" pitchFamily="2" charset="2"/>
              <a:buChar char="Ø"/>
            </a:pPr>
            <a:r>
              <a:rPr lang="en-IN" sz="1400" dirty="0"/>
              <a:t>Microcontroller</a:t>
            </a:r>
          </a:p>
          <a:p>
            <a:pPr marL="171450" indent="-171450">
              <a:buClr>
                <a:schemeClr val="accent1"/>
              </a:buClr>
              <a:buSzPct val="100000"/>
              <a:buFont typeface="Wingdings" panose="05000000000000000000" pitchFamily="2" charset="2"/>
              <a:buChar char="Ø"/>
            </a:pPr>
            <a:r>
              <a:rPr lang="en-IN" sz="1400" dirty="0"/>
              <a:t>Sensors: 2 IMUs (MPU6050 or BNO055, with the BNO055)</a:t>
            </a:r>
          </a:p>
          <a:p>
            <a:pPr marL="171450" indent="-171450">
              <a:buClr>
                <a:schemeClr val="accent1"/>
              </a:buClr>
              <a:buSzPct val="100000"/>
              <a:buFont typeface="Wingdings" panose="05000000000000000000" pitchFamily="2" charset="2"/>
              <a:buChar char="Ø"/>
            </a:pPr>
            <a:r>
              <a:rPr lang="en-IN" sz="1400" dirty="0"/>
              <a:t>Power – Lithium ion or LiPo batteries</a:t>
            </a:r>
          </a:p>
          <a:p>
            <a:pPr marL="171450" indent="-171450">
              <a:buClr>
                <a:schemeClr val="accent1"/>
              </a:buClr>
              <a:buSzPct val="100000"/>
              <a:buFont typeface="Wingdings" panose="05000000000000000000" pitchFamily="2" charset="2"/>
              <a:buChar char="Ø"/>
            </a:pPr>
            <a:r>
              <a:rPr lang="en-IN" sz="1400" dirty="0"/>
              <a:t>Arduino, etc</a:t>
            </a:r>
            <a:endParaRPr lang="en-US" sz="1400" dirty="0"/>
          </a:p>
          <a:p>
            <a:pPr marL="279400" indent="-279400">
              <a:spcAft>
                <a:spcPts val="1000"/>
              </a:spcAft>
              <a:buClr>
                <a:schemeClr val="accent1"/>
              </a:buClr>
              <a:buSzPct val="100000"/>
              <a:buChar char="•"/>
            </a:pPr>
            <a:r>
              <a:rPr lang="en-US" sz="1400" dirty="0">
                <a:solidFill>
                  <a:schemeClr val="tx1"/>
                </a:solidFill>
              </a:rPr>
              <a:t>Software Requirements</a:t>
            </a:r>
          </a:p>
          <a:p>
            <a:pPr marL="171450" indent="-171450">
              <a:spcAft>
                <a:spcPts val="1000"/>
              </a:spcAft>
              <a:buClr>
                <a:schemeClr val="accent1"/>
              </a:buClr>
              <a:buSzPct val="100000"/>
              <a:buFont typeface="Wingdings" panose="05000000000000000000" pitchFamily="2" charset="2"/>
              <a:buChar char="Ø"/>
            </a:pPr>
            <a:r>
              <a:rPr lang="en-IN" sz="1400" dirty="0">
                <a:sym typeface="Wingdings" panose="05000000000000000000" pitchFamily="2" charset="2"/>
              </a:rPr>
              <a:t>Python, PyTorch, MATLAB, NumPy, Pandas, Arduino IDE, SimpleFOC, Bluetooth logging Software, GitHub, CAD, Cura, Jupyter</a:t>
            </a:r>
            <a:endParaRPr lang="en-US" sz="1400" dirty="0">
              <a:solidFill>
                <a:schemeClr val="tx1"/>
              </a:solidFill>
            </a:endParaRPr>
          </a:p>
          <a:p>
            <a:pPr marL="279400" indent="-279400">
              <a:spcAft>
                <a:spcPts val="1000"/>
              </a:spcAft>
              <a:buClr>
                <a:schemeClr val="accent1"/>
              </a:buClr>
              <a:buSzPct val="100000"/>
              <a:buChar char="•"/>
            </a:pPr>
            <a:r>
              <a:rPr lang="en-US" sz="1400" dirty="0"/>
              <a:t>Human Resources</a:t>
            </a:r>
            <a:endParaRPr lang="en-US" sz="1400" dirty="0">
              <a:solidFill>
                <a:schemeClr val="tx1"/>
              </a:solidFill>
            </a:endParaRPr>
          </a:p>
          <a:p>
            <a:pPr marL="171450" indent="-171450">
              <a:buFont typeface="Wingdings" panose="05000000000000000000" pitchFamily="2" charset="2"/>
              <a:buChar char="Ø"/>
            </a:pPr>
            <a:r>
              <a:rPr lang="en-IN" sz="1400" dirty="0">
                <a:sym typeface="Wingdings" panose="05000000000000000000" pitchFamily="2" charset="2"/>
              </a:rPr>
              <a:t>1-2 people can assemble them</a:t>
            </a:r>
            <a:endParaRPr lang="en-IN" sz="1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dirty="0"/>
          </a:p>
        </p:txBody>
      </p:sp>
      <p:pic>
        <p:nvPicPr>
          <p:cNvPr id="13" name="Picture 12" descr="130+ System Requirements Illustrations - iStock">
            <a:extLst>
              <a:ext uri="{FF2B5EF4-FFF2-40B4-BE49-F238E27FC236}">
                <a16:creationId xmlns:a16="http://schemas.microsoft.com/office/drawing/2014/main" id="{C3C6BCFA-36BA-3461-DD33-6BBF976F2844}"/>
              </a:ext>
            </a:extLst>
          </p:cNvPr>
          <p:cNvPicPr>
            <a:picLocks noChangeAspect="1"/>
          </p:cNvPicPr>
          <p:nvPr/>
        </p:nvPicPr>
        <p:blipFill>
          <a:blip r:embed="rId5"/>
          <a:srcRect l="20944" t="10952" r="16721" b="28233"/>
          <a:stretch>
            <a:fillRect/>
          </a:stretch>
        </p:blipFill>
        <p:spPr>
          <a:xfrm>
            <a:off x="8604986" y="2194561"/>
            <a:ext cx="2654022" cy="2589196"/>
          </a:xfrm>
          <a:prstGeom prst="ellipse">
            <a:avLst/>
          </a:prstGeom>
        </p:spPr>
      </p:pic>
      <p:sp>
        <p:nvSpPr>
          <p:cNvPr id="12" name="TextBox 11">
            <a:extLst>
              <a:ext uri="{FF2B5EF4-FFF2-40B4-BE49-F238E27FC236}">
                <a16:creationId xmlns:a16="http://schemas.microsoft.com/office/drawing/2014/main" id="{366CBC32-873A-909D-6651-3F3C59D8EF8A}"/>
              </a:ext>
            </a:extLst>
          </p:cNvPr>
          <p:cNvSpPr txBox="1"/>
          <p:nvPr/>
        </p:nvSpPr>
        <p:spPr>
          <a:xfrm>
            <a:off x="9653587" y="4934967"/>
            <a:ext cx="2181225" cy="246221"/>
          </a:xfrm>
          <a:prstGeom prst="rect">
            <a:avLst/>
          </a:prstGeom>
          <a:noFill/>
        </p:spPr>
        <p:txBody>
          <a:bodyPr wrap="square" rtlCol="0">
            <a:spAutoFit/>
          </a:bodyPr>
          <a:lstStyle/>
          <a:p>
            <a:r>
              <a:rPr lang="en-US" sz="1000" dirty="0"/>
              <a:t>Credit:</a:t>
            </a:r>
            <a:r>
              <a:rPr lang="en-IN" sz="1000" dirty="0"/>
              <a:t>https://www.istockphoto.com/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IN" dirty="0"/>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IN" dirty="0"/>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dirty="0">
                <a:solidFill>
                  <a:schemeClr val="accent1"/>
                </a:solidFill>
              </a:rPr>
              <a:t>THE NOTRE DAME</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IN" dirty="0"/>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868680" y="2148840"/>
            <a:ext cx="5483994" cy="2850186"/>
          </a:xfrm>
          <a:prstGeom prst="rect">
            <a:avLst/>
          </a:prstGeom>
          <a:noFill/>
          <a:ln/>
        </p:spPr>
        <p:txBody>
          <a:bodyPr wrap="square" lIns="0" tIns="0" rIns="0" bIns="0" rtlCol="0" anchor="t"/>
          <a:lstStyle/>
          <a:p>
            <a:pPr marL="279400" indent="-279400">
              <a:buClr>
                <a:schemeClr val="accent1"/>
              </a:buClr>
              <a:buSzPct val="100000"/>
              <a:buFont typeface="Arial" panose="020B0604020202020204" pitchFamily="34" charset="0"/>
              <a:buChar char="•"/>
            </a:pPr>
            <a:r>
              <a:rPr lang="en-IN" dirty="0"/>
              <a:t>The team intends to put in the peak of its efforts to create a machine for the overlooked, which chooses to flag a genuinely solvable issue as an inconvenient fact of life they continue to suffer through.</a:t>
            </a:r>
          </a:p>
          <a:p>
            <a:pPr marL="279400" indent="-279400">
              <a:buClr>
                <a:schemeClr val="accent1"/>
              </a:buClr>
              <a:buSzPct val="100000"/>
              <a:buFont typeface="Arial" panose="020B0604020202020204" pitchFamily="34" charset="0"/>
              <a:buChar char="•"/>
            </a:pPr>
            <a:r>
              <a:rPr lang="en-IN" dirty="0"/>
              <a:t>Our motive is to improve our horizon and the system’s comfort &amp; convenience, which is the biggest problem as of now.</a:t>
            </a:r>
          </a:p>
          <a:p>
            <a:pPr marL="279400" indent="-279400">
              <a:buClr>
                <a:schemeClr val="accent1"/>
              </a:buClr>
              <a:buSzPct val="100000"/>
              <a:buFont typeface="Arial" panose="020B0604020202020204" pitchFamily="34" charset="0"/>
              <a:buChar char="•"/>
            </a:pPr>
            <a:r>
              <a:rPr lang="en-IN" dirty="0"/>
              <a:t>We wish to improve comfort by introduction of clothes and fibres into the design, while not jeopardising the strength and quality of the design.</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dirty="0"/>
          </a:p>
        </p:txBody>
      </p:sp>
      <p:pic>
        <p:nvPicPr>
          <p:cNvPr id="12" name="Picture 11" descr="Outcome Stock Illustrations – 17,112 Outcome Stock Illustrations, Vectors &amp;  Clipart - Dreamstime">
            <a:extLst>
              <a:ext uri="{FF2B5EF4-FFF2-40B4-BE49-F238E27FC236}">
                <a16:creationId xmlns:a16="http://schemas.microsoft.com/office/drawing/2014/main" id="{CCC3F409-6477-8843-BA93-0685DD2A503E}"/>
              </a:ext>
            </a:extLst>
          </p:cNvPr>
          <p:cNvPicPr>
            <a:picLocks noChangeAspect="1"/>
          </p:cNvPicPr>
          <p:nvPr/>
        </p:nvPicPr>
        <p:blipFill>
          <a:blip r:embed="rId5"/>
          <a:stretch>
            <a:fillRect/>
          </a:stretch>
        </p:blipFill>
        <p:spPr>
          <a:xfrm>
            <a:off x="7507026" y="1660550"/>
            <a:ext cx="3264606" cy="326460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4" name="TextBox 13">
            <a:extLst>
              <a:ext uri="{FF2B5EF4-FFF2-40B4-BE49-F238E27FC236}">
                <a16:creationId xmlns:a16="http://schemas.microsoft.com/office/drawing/2014/main" id="{5C6A1AC5-BED9-3674-5B5E-BC83E275C443}"/>
              </a:ext>
            </a:extLst>
          </p:cNvPr>
          <p:cNvSpPr txBox="1"/>
          <p:nvPr/>
        </p:nvSpPr>
        <p:spPr>
          <a:xfrm>
            <a:off x="9321800" y="5235366"/>
            <a:ext cx="2165807" cy="246221"/>
          </a:xfrm>
          <a:prstGeom prst="rect">
            <a:avLst/>
          </a:prstGeom>
          <a:noFill/>
        </p:spPr>
        <p:txBody>
          <a:bodyPr wrap="square" rtlCol="0">
            <a:spAutoFit/>
          </a:bodyPr>
          <a:lstStyle/>
          <a:p>
            <a:r>
              <a:rPr lang="en-US" sz="1000" dirty="0"/>
              <a:t>Credit:</a:t>
            </a:r>
            <a:r>
              <a:rPr lang="en-IN" sz="1000" dirty="0"/>
              <a:t>https://www.dreamstime.com/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TEAM CONTRIBUTION</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IN"/>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IN"/>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dirty="0">
                <a:solidFill>
                  <a:schemeClr val="accent1"/>
                </a:solidFill>
              </a:rPr>
              <a:t>THE NOTRE DAME</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IN"/>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Who will handle which part of the execution</a:t>
            </a:r>
            <a:endParaRPr lang="en-US" sz="1800" dirty="0"/>
          </a:p>
        </p:txBody>
      </p:sp>
      <p:graphicFrame>
        <p:nvGraphicFramePr>
          <p:cNvPr id="10" name="Team Contribution 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3474720"/>
        </p:xfrm>
        <a:graphic>
          <a:graphicData uri="http://schemas.openxmlformats.org/drawingml/2006/table">
            <a:tbl>
              <a:tblPr/>
              <a:tblGrid>
                <a:gridCol w="30175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5516575">
                  <a:extLst>
                    <a:ext uri="{9D8B030D-6E8A-4147-A177-3AD203B41FA5}">
                      <a16:colId xmlns:a16="http://schemas.microsoft.com/office/drawing/2014/main" val="20002"/>
                    </a:ext>
                  </a:extLst>
                </a:gridCol>
              </a:tblGrid>
              <a:tr h="548640">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Team Member</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Responsibility in Execution</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1 name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2 name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3 name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4 name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9</a:t>
            </a:fld>
            <a:endParaRPr lang="en-US" dirty="0"/>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TotalTime>
  <Words>1084</Words>
  <Application>Microsoft Office PowerPoint</Application>
  <PresentationFormat>Widescreen</PresentationFormat>
  <Paragraphs>125</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lpstr>TEAM CONTRIBUTION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Aria Lee</cp:lastModifiedBy>
  <cp:revision>5</cp:revision>
  <dcterms:created xsi:type="dcterms:W3CDTF">2026-10-07T15:27:40Z</dcterms:created>
  <dcterms:modified xsi:type="dcterms:W3CDTF">2026-10-09T18:14:36Z</dcterms:modified>
</cp:coreProperties>
</file>